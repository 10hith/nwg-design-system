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FY2024</c:v>
                </c:pt>
              </c:strCache>
            </c:strRef>
          </c:tx>
          <c:spPr>
            <a:solidFill>
              <a:srgbClr val="3D0F6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Retail</c:v>
                  </c:pt>
                  <c:pt idx="1">
                    <c:v>Commercial</c:v>
                  </c:pt>
                  <c:pt idx="2">
                    <c:v>Private</c:v>
                  </c:pt>
                  <c:pt idx="3">
                    <c:v>Markets</c:v>
                  </c:pt>
                  <c:pt idx="4">
                    <c:v>Central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5800</c:v>
                </c:pt>
                <c:pt idx="1">
                  <c:v>3200</c:v>
                </c:pt>
                <c:pt idx="2">
                  <c:v>1400</c:v>
                </c:pt>
                <c:pt idx="3">
                  <c:v>2100</c:v>
                </c:pt>
                <c:pt idx="4">
                  <c:v>800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FY2025</c:v>
                </c:pt>
              </c:strCache>
            </c:strRef>
          </c:tx>
          <c:spPr>
            <a:solidFill>
              <a:srgbClr val="5E1B9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Retail</c:v>
                  </c:pt>
                  <c:pt idx="1">
                    <c:v>Commercial</c:v>
                  </c:pt>
                  <c:pt idx="2">
                    <c:v>Private</c:v>
                  </c:pt>
                  <c:pt idx="3">
                    <c:v>Markets</c:v>
                  </c:pt>
                  <c:pt idx="4">
                    <c:v>Central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6400</c:v>
                </c:pt>
                <c:pt idx="1">
                  <c:v>3800</c:v>
                </c:pt>
                <c:pt idx="2">
                  <c:v>1700</c:v>
                </c:pt>
                <c:pt idx="3">
                  <c:v>2400</c:v>
                </c:pt>
                <c:pt idx="4">
                  <c:v>950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WG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6547104"/>
            <a:ext cx="11350447" cy="0"/>
          </a:xfrm>
          <a:prstGeom prst="line">
            <a:avLst/>
          </a:prstGeom>
          <a:noFill/>
          <a:ln w="7620">
            <a:solidFill>
              <a:srgbClr val="D7D7D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6611112"/>
            <a:ext cx="5212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4E4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NatWest Group · Component Test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4455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4E4E5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4455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4E4E5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 w="12700">
            <a:solidFill>
              <a:srgbClr val="3D0F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115516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80" kern="0" dirty="0">
                <a:solidFill>
                  <a:srgbClr val="FDA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NATWEST GROUP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11551615" cy="3429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NWG Component Library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20040" y="3904488"/>
            <a:ext cx="11551615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D9B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Review · May 2025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20040" y="6528816"/>
            <a:ext cx="115516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91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72400" y="-457200"/>
            <a:ext cx="4572000" cy="457200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FEE9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72500" y="342900"/>
            <a:ext cx="2971800" cy="297180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D9BD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41887" y="6601968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4E4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4455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4E4E5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0" cy="6858000"/>
          </a:xfrm>
          <a:prstGeom prst="rect">
            <a:avLst/>
          </a:prstGeom>
          <a:ln w="12700">
            <a:solidFill>
              <a:srgbClr val="3D0F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2103120" cy="3429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DA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1938528"/>
            <a:ext cx="17373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0" y="374904"/>
            <a:ext cx="27432" cy="155448"/>
          </a:xfrm>
          <a:prstGeom prst="rect">
            <a:avLst/>
          </a:prstGeom>
          <a:solidFill>
            <a:srgbClr val="FDAB1F"/>
          </a:solidFill>
          <a:ln w="12700">
            <a:solidFill>
              <a:srgbClr val="FDAB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82696" y="347472"/>
            <a:ext cx="4489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4F17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CATALOGUE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00400" y="658368"/>
            <a:ext cx="8229600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3D0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— Component Showcase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3200400" y="4133088"/>
            <a:ext cx="8229600" cy="9525"/>
          </a:xfrm>
          <a:prstGeom prst="rect">
            <a:avLst/>
          </a:prstGeom>
          <a:solidFill>
            <a:srgbClr val="D7D7DE"/>
          </a:solidFill>
          <a:ln w="12700">
            <a:solidFill>
              <a:srgbClr val="D7D7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4483608"/>
            <a:ext cx="100584" cy="100584"/>
          </a:xfrm>
          <a:prstGeom prst="ellipse">
            <a:avLst/>
          </a:prstGeom>
          <a:solidFill>
            <a:srgbClr val="FDAB1F"/>
          </a:solidFill>
          <a:ln w="12700">
            <a:solidFill>
              <a:srgbClr val="FDAB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92424" y="4297680"/>
            <a:ext cx="8037576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NWG components with twin HTML + PPTX renderers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0" y="5070348"/>
            <a:ext cx="100584" cy="100584"/>
          </a:xfrm>
          <a:prstGeom prst="ellipse">
            <a:avLst/>
          </a:prstGeom>
          <a:solidFill>
            <a:srgbClr val="FDAB1F"/>
          </a:solidFill>
          <a:ln w="12700">
            <a:solidFill>
              <a:srgbClr val="FDAB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92424" y="4884420"/>
            <a:ext cx="8037576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composition with inch-based coordinate system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0" y="5657088"/>
            <a:ext cx="100584" cy="100584"/>
          </a:xfrm>
          <a:prstGeom prst="ellipse">
            <a:avLst/>
          </a:prstGeom>
          <a:solidFill>
            <a:srgbClr val="FDAB1F"/>
          </a:solidFill>
          <a:ln w="12700">
            <a:solidFill>
              <a:srgbClr val="FDAB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92424" y="5471160"/>
            <a:ext cx="8037576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editable PPTX — no Puppeteer required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1441887" y="6601968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4E4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4455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4E4E5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320040"/>
            <a:ext cx="27432" cy="155448"/>
          </a:xfrm>
          <a:prstGeom prst="rect">
            <a:avLst/>
          </a:prstGeom>
          <a:solidFill>
            <a:srgbClr val="FDAB1F"/>
          </a:solidFill>
          <a:ln w="12700">
            <a:solidFill>
              <a:srgbClr val="FDAB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4489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4F17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OVERVIEW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20624" y="530352"/>
            <a:ext cx="822960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D0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Performance Metrics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20624" y="1417320"/>
            <a:ext cx="2734628" cy="1463040"/>
          </a:xfrm>
          <a:prstGeom prst="roundRect">
            <a:avLst>
              <a:gd name="adj" fmla="val 5625"/>
            </a:avLst>
          </a:prstGeom>
          <a:solidFill>
            <a:srgbClr val="F7EFFC"/>
          </a:solidFill>
          <a:ln w="8890">
            <a:solidFill>
              <a:srgbClr val="D9BD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27048"/>
            <a:ext cx="24785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4F17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£14.8bn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24785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E4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Income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88602" y="1417320"/>
            <a:ext cx="2734628" cy="1463040"/>
          </a:xfrm>
          <a:prstGeom prst="roundRect">
            <a:avLst>
              <a:gd name="adj" fmla="val 5625"/>
            </a:avLst>
          </a:prstGeom>
          <a:solidFill>
            <a:srgbClr val="F7EFFC"/>
          </a:solidFill>
          <a:ln w="8890">
            <a:solidFill>
              <a:srgbClr val="D9BD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16618" y="1527048"/>
            <a:ext cx="24785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4F17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22.4%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416618" y="2331720"/>
            <a:ext cx="24785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E4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56579" y="1417320"/>
            <a:ext cx="2734628" cy="1463040"/>
          </a:xfrm>
          <a:prstGeom prst="roundRect">
            <a:avLst>
              <a:gd name="adj" fmla="val 5625"/>
            </a:avLst>
          </a:prstGeom>
          <a:solidFill>
            <a:srgbClr val="F7EFFC"/>
          </a:solidFill>
          <a:ln w="8890">
            <a:solidFill>
              <a:srgbClr val="D9BD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84595" y="1527048"/>
            <a:ext cx="24785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4F17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41.3%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284595" y="2331720"/>
            <a:ext cx="24785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E4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Cost:Income Ratio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24557" y="1417320"/>
            <a:ext cx="2734628" cy="1463040"/>
          </a:xfrm>
          <a:prstGeom prst="roundRect">
            <a:avLst>
              <a:gd name="adj" fmla="val 5625"/>
            </a:avLst>
          </a:prstGeom>
          <a:solidFill>
            <a:srgbClr val="F7EFFC"/>
          </a:solidFill>
          <a:ln w="8890">
            <a:solidFill>
              <a:srgbClr val="D9BD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52573" y="1527048"/>
            <a:ext cx="24785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4F17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£7.2bn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152573" y="2331720"/>
            <a:ext cx="24785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E4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Return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0624" y="3172968"/>
            <a:ext cx="11338560" cy="9525"/>
          </a:xfrm>
          <a:prstGeom prst="rect">
            <a:avLst/>
          </a:prstGeom>
          <a:solidFill>
            <a:srgbClr val="D7D7DE"/>
          </a:solidFill>
          <a:ln w="12700">
            <a:solidFill>
              <a:srgbClr val="D7D7D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0624" y="3337560"/>
            <a:ext cx="5486400" cy="2377440"/>
          </a:xfrm>
          <a:prstGeom prst="roundRect">
            <a:avLst>
              <a:gd name="adj" fmla="val 3077"/>
            </a:avLst>
          </a:prstGeom>
          <a:solidFill>
            <a:srgbClr val="F7EFFC"/>
          </a:solidFill>
          <a:ln w="8890">
            <a:solidFill>
              <a:srgbClr val="ECDC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" y="3465576"/>
            <a:ext cx="5157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D0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Highlights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85216" y="3922776"/>
            <a:ext cx="5157216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E4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NIM expansion across all three divisions. Mortgage book growth of 8% driven by first-time buyer volumes. Cost transformation programme delivered £400m savings ahead of plan.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309360" y="3474720"/>
            <a:ext cx="2916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3D0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£4.1bn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226296" y="347472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FA8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+12% YoY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552176" y="3474720"/>
            <a:ext cx="1060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E4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Profit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309360" y="4297680"/>
            <a:ext cx="2916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3D0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15.4%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226296" y="429768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43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-1.2pp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552176" y="4297680"/>
            <a:ext cx="1060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E4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CET1 Ratio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309360" y="5074920"/>
            <a:ext cx="36576" cy="822960"/>
          </a:xfrm>
          <a:prstGeom prst="rect">
            <a:avLst/>
          </a:prstGeom>
          <a:solidFill>
            <a:srgbClr val="FDAB1F"/>
          </a:solidFill>
          <a:ln w="12700">
            <a:solidFill>
              <a:srgbClr val="FDAB1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45936" y="5074920"/>
            <a:ext cx="5266944" cy="822960"/>
          </a:xfrm>
          <a:prstGeom prst="roundRect">
            <a:avLst>
              <a:gd name="adj" fmla="val 6667"/>
            </a:avLst>
          </a:prstGeom>
          <a:solidFill>
            <a:srgbClr val="F7EFFC"/>
          </a:solidFill>
          <a:ln w="6350">
            <a:solidFill>
              <a:srgbClr val="ECDC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10528" y="5202936"/>
            <a:ext cx="497433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3D0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“Our performance reflects the resilience of our diversified model.”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10528" y="5783580"/>
            <a:ext cx="4974336" cy="41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F17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CEO, Q2 RESULTS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1441887" y="6601968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4E4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4455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4E4E5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320040"/>
            <a:ext cx="27432" cy="155448"/>
          </a:xfrm>
          <a:prstGeom prst="rect">
            <a:avLst/>
          </a:prstGeom>
          <a:solidFill>
            <a:srgbClr val="FDAB1F"/>
          </a:solidFill>
          <a:ln w="12700">
            <a:solidFill>
              <a:srgbClr val="FDAB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4489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4F17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DIVISIONAL PERFORMANCE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20624" y="530352"/>
            <a:ext cx="822960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D0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Growth by Division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371600"/>
          <a:ext cx="658368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406640" y="1371600"/>
            <a:ext cx="4389120" cy="1371600"/>
          </a:xfrm>
          <a:prstGeom prst="roundRect">
            <a:avLst>
              <a:gd name="adj" fmla="val 5333"/>
            </a:avLst>
          </a:prstGeom>
          <a:solidFill>
            <a:srgbClr val="F7EFFC"/>
          </a:solidFill>
          <a:ln w="8890">
            <a:solidFill>
              <a:srgbClr val="ECDCF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71232" y="1499616"/>
            <a:ext cx="4059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D0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Banking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571232" y="1956816"/>
            <a:ext cx="405993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E4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+10.3% income growth driven by mortgage market share gains and improved NIM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406640" y="2880360"/>
            <a:ext cx="4389120" cy="1371600"/>
          </a:xfrm>
          <a:prstGeom prst="roundRect">
            <a:avLst>
              <a:gd name="adj" fmla="val 5333"/>
            </a:avLst>
          </a:prstGeom>
          <a:solidFill>
            <a:srgbClr val="F3F3F5"/>
          </a:solidFill>
          <a:ln w="8890">
            <a:solidFill>
              <a:srgbClr val="D7D7D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71232" y="3008376"/>
            <a:ext cx="4059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D0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Banking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571232" y="3465576"/>
            <a:ext cx="405993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E4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+18.7% reflecting SME lending growth and trade finance volumes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406640" y="4389120"/>
            <a:ext cx="4389120" cy="1554480"/>
          </a:xfrm>
          <a:prstGeom prst="roundRect">
            <a:avLst>
              <a:gd name="adj" fmla="val 4706"/>
            </a:avLst>
          </a:prstGeom>
          <a:solidFill>
            <a:srgbClr val="FEF3D0"/>
          </a:solidFill>
          <a:ln w="8890">
            <a:solidFill>
              <a:srgbClr val="FDAB1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571232" y="4517136"/>
            <a:ext cx="4059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D0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Banking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571232" y="4974336"/>
            <a:ext cx="405993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E4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+21.4% with AUM reaching record £38bn on strong inflows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1441887" y="6601968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4E4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4455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4E4E5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320040"/>
            <a:ext cx="27432" cy="155448"/>
          </a:xfrm>
          <a:prstGeom prst="rect">
            <a:avLst/>
          </a:prstGeom>
          <a:solidFill>
            <a:srgbClr val="FDAB1F"/>
          </a:solidFill>
          <a:ln w="12700">
            <a:solidFill>
              <a:srgbClr val="FDAB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4489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4F17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20624" y="530352"/>
            <a:ext cx="822960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D0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Priorities 2025–2027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" y="1417320"/>
          <a:ext cx="11338560" cy="3657600"/>
        </p:xfrm>
        <a:graphic>
          <a:graphicData uri="http://schemas.openxmlformats.org/drawingml/2006/table">
            <a:tbl>
              <a:tblPr/>
              <a:tblGrid>
                <a:gridCol w="2267712"/>
                <a:gridCol w="2267712"/>
                <a:gridCol w="2267712"/>
                <a:gridCol w="2267712"/>
                <a:gridCol w="2267712"/>
              </a:tblGrid>
              <a:tr h="6126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Priority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8890" cap="flat" cmpd="sng" algn="ctr">
                      <a:solidFill>
                        <a:srgbClr val="D9B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B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B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B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178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 Target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8890" cap="flat" cmpd="sng" algn="ctr">
                      <a:solidFill>
                        <a:srgbClr val="D9B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B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B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B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178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 Target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8890" cap="flat" cmpd="sng" algn="ctr">
                      <a:solidFill>
                        <a:srgbClr val="D9B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B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B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B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178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 Target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8890" cap="flat" cmpd="sng" algn="ctr">
                      <a:solidFill>
                        <a:srgbClr val="D9B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B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B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B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178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8890" cap="flat" cmpd="sng" algn="ctr">
                      <a:solidFill>
                        <a:srgbClr val="D9B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B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B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B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1783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Digital transformation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30% digital sales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50% digital sales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70% digital sales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CTO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FC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 efficiency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£400m savings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£700m savings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£1bn savings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CFO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Climate commitments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zero ops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50% portfolio aligned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TCFD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FC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 growth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+500k retail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+1.2m retail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+2m retail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CCO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Capital strength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CET1 &gt;14%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CET1 &gt;14.5%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CET1 &gt;15%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CFO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DC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FC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20624" y="5349240"/>
            <a:ext cx="3200400" cy="310896"/>
          </a:xfrm>
          <a:prstGeom prst="roundRect">
            <a:avLst>
              <a:gd name="adj" fmla="val 50000"/>
            </a:avLst>
          </a:prstGeom>
          <a:solidFill>
            <a:srgbClr val="FEF3D0"/>
          </a:solidFill>
          <a:ln w="8890">
            <a:solidFill>
              <a:srgbClr val="FDAB1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12064" y="534924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DA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approved Feb 2025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840480" y="5349240"/>
            <a:ext cx="3200400" cy="310896"/>
          </a:xfrm>
          <a:prstGeom prst="roundRect">
            <a:avLst>
              <a:gd name="adj" fmla="val 50000"/>
            </a:avLst>
          </a:prstGeom>
          <a:solidFill>
            <a:srgbClr val="F3F3F5"/>
          </a:solidFill>
          <a:ln w="8890">
            <a:solidFill>
              <a:srgbClr val="D7D7D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931920" y="534924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F17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 to regulatory review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1441887" y="6601968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4E4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4455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4E4E5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 w="12700">
            <a:solidFill>
              <a:srgbClr val="3D0F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11551615" cy="3429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320040" y="3703320"/>
            <a:ext cx="11551615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D9B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77240" y="4392168"/>
            <a:ext cx="100584" cy="100584"/>
          </a:xfrm>
          <a:prstGeom prst="ellipse">
            <a:avLst/>
          </a:prstGeom>
          <a:solidFill>
            <a:srgbClr val="FDAB1F"/>
          </a:solidFill>
          <a:ln w="12700">
            <a:solidFill>
              <a:srgbClr val="FDAB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9264" y="4206240"/>
            <a:ext cx="10323576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investor.relations@natwestgroup.com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77240" y="4978908"/>
            <a:ext cx="100584" cy="100584"/>
          </a:xfrm>
          <a:prstGeom prst="ellipse">
            <a:avLst/>
          </a:prstGeom>
          <a:solidFill>
            <a:srgbClr val="FDAB1F"/>
          </a:solidFill>
          <a:ln w="12700">
            <a:solidFill>
              <a:srgbClr val="FDAB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4792980"/>
            <a:ext cx="10323576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presentation available at natwestgroup.com/results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77240" y="5565648"/>
            <a:ext cx="100584" cy="100584"/>
          </a:xfrm>
          <a:prstGeom prst="ellipse">
            <a:avLst/>
          </a:prstGeom>
          <a:solidFill>
            <a:srgbClr val="FDAB1F"/>
          </a:solidFill>
          <a:ln w="12700">
            <a:solidFill>
              <a:srgbClr val="FDAB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264" y="5379720"/>
            <a:ext cx="10323576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results update: Q3 2025, October 2025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" y="6099048"/>
            <a:ext cx="10515600" cy="9525"/>
          </a:xfrm>
          <a:prstGeom prst="rect">
            <a:avLst/>
          </a:prstGeom>
          <a:solidFill>
            <a:srgbClr val="BD91E5"/>
          </a:solidFill>
          <a:ln w="12700">
            <a:solidFill>
              <a:srgbClr val="BD91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41887" y="6601968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4E4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4455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4E4E5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NatWest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NWG Component Test Deck</dc:title>
  <dc:subject>Verifying all 17 components render correctly</dc:subject>
  <dc:creator>nwg-pptx</dc:creator>
  <cp:lastModifiedBy>nwg-pptx</cp:lastModifiedBy>
  <cp:revision>1</cp:revision>
  <dcterms:created xsi:type="dcterms:W3CDTF">2026-05-05T16:14:43Z</dcterms:created>
  <dcterms:modified xsi:type="dcterms:W3CDTF">2026-05-05T16:14:43Z</dcterms:modified>
</cp:coreProperties>
</file>